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66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095805"/>
            <a:ext cx="9906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kern="0" spc="315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1-1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53005"/>
            <a:ext cx="9906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Data-Driven Society and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Science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572000"/>
            <a:ext cx="9906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University of Tokyo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Center for Research and Development on Transition to Modern Education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5219395"/>
            <a:ext cx="9906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April 30, 2021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197967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9402"/>
            <a:ext cx="9906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section, we aim to achieve the following goals: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9905695" cy="1009498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1380744" y="2523744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57146" y="2523744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Significance of Data Science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57146" y="2838298"/>
            <a:ext cx="94411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the core importance and impact of learning data science in our modern, data-driven society.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3442716"/>
            <a:ext cx="9905695" cy="1218895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1380744" y="3680460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60804" y="3680460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Utilization Process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60804" y="3995014"/>
            <a:ext cx="8953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Experience sequential data processes and master workflows (e.g., hypothesis testing, knowledge discovery, root cause analysis, and decision support).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43000" y="4812487"/>
            <a:ext cx="9905695" cy="1009498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1380744" y="5050231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857146" y="5050231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Future Society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857146" y="5364785"/>
            <a:ext cx="93497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Deepen understanding of upcoming paradigm shifts and infrastructural changes in future human society.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412851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2362810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1904695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904695" y="1910182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Case Studies of Data Science Applications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96805" y="1923898"/>
            <a:ext cx="95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4-7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3020263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43000" y="2562149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904695" y="2566721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Business Models Leveraging 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96805" y="2581351"/>
            <a:ext cx="95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8-11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3677717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43000" y="3219602"/>
            <a:ext cx="68031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904695" y="3224174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Implementation of AI and Data-Driven Society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3828" y="3238805"/>
            <a:ext cx="9948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12-15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4334256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1143000" y="3877056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IV.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904695" y="3881628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5.0 and Super Cities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053828" y="3895344"/>
            <a:ext cx="9948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16-24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76178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&amp; Development: Process Steps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Core Pillars of R&amp;D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lifecycle of data-driven research and development is strictly classified into five sequential operations: Hypothesis Verification, Knowledge Discovery, Cause Investigation, Planning, and Decision Support.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249778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Recommendation Ecosystem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80790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streaming giants like Netflix utilize viewing history to provide hyper-personalized recommendation matrices.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Engineering Challenge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are these systems engineered behind the scenes, and what exact data validation processes power their persistent optimization loops?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YouTube Reference (Timestamp 2:47)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00" dirty="0"/>
          </a:p>
        </p:txBody>
      </p:sp>
      <p:pic>
        <p:nvPicPr>
          <p:cNvPr id="23" name="Picture 22" descr="crop_s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2990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Knowledge Discovery (Niche Tagging)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Beyond Broad Classifications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 content cannot always be simplified into generic genres like "Action" or "Horror". Real audience preferences are far more nuanced.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Viewing Behaviors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Evaluating raw user telemetry allows data systems to construct refined, granular sub-clusters that discover latent features.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80939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Micro-Tagging at Scale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14131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Netflix extracts hyper-specific tags like "Character-driven Suspense" or "Children's Shows featuring Vehicles", optimizing the discovery interface.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Evolutionary shift from traditional taxonomy to multi-dimensional micro-tags. (Source: YouTube youtu.be/0CGQvdAbNcc t=9:13)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00" dirty="0"/>
          </a:p>
        </p:txBody>
      </p:sp>
      <p:pic>
        <p:nvPicPr>
          <p:cNvPr id="23" name="Picture 22" descr="crop_s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8354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R&amp;D Planning and Decision Support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Feedback Loops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obtained from hypothesis testing and knowledge discovery directly feeds back into production plans and executive decision support.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 Production Economics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rising volume of "Original Series" across platforms (e.g., Netflix, Amazon Prime) heavily relies on historic data to model creative development.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Empirical Creative Decisions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Telemetry is used to optimize casting combinations, structural pacing, scene composition, and budget allocation, mitigating expensive creative risks.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8195" y="281909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8195" y="3495751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8195" y="41724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Continuous integration of data insights into studio production decisions. (Source: YouTube youtu.be/0CGQvdAbNcc t=16:46)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00" dirty="0"/>
          </a:p>
        </p:txBody>
      </p:sp>
      <p:pic>
        <p:nvPicPr>
          <p:cNvPr id="30" name="Picture 29" descr="crop_s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14055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Business Models: Marketing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Root Cause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marketing utilizes telemetry to identify the precise underlying drivers behind purchasing behaviors rather than relying on correlation.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Behavioral Log Integration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Integrating search engine footprints and query telemetry yields unparalleled predictive capabilities on consumption waves.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80939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Spatio-Temporal GPS Analysis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14131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geospatial coordinates from mobile devices are actively parsed to measure demographic density and municipal mobility index during critical social emergencies.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References: </a:t>
            </a:r>
            <a:r>
              <a:rPr lang="en-US" sz="9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mobaku.jp</a:t>
            </a: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&amp; </a:t>
            </a:r>
            <a:r>
              <a:rPr lang="en-US" sz="9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valuesccg.com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00" dirty="0"/>
          </a:p>
        </p:txBody>
      </p:sp>
      <p:pic>
        <p:nvPicPr>
          <p:cNvPr id="24" name="Picture 23" descr="crop_s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50610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Activity Substitution: Smart Manufacturing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 on the Factory Floor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Applying artificial intelligence and advanced data science on manufacturing lines represents a major shift toward high-performance activity substitution.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Quality Control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Major food manufacturers (e.g., Kewpie) utilize AI computer vision systems directly within raw ingredient sorting processes to analyze quality in real time.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Sorting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learning models identify defects, anomalies, and foreign objects in raw materials (like potatoes), mimicking and replacing human visual sorting with 24/7 consistency.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Simulated conveyor-line computer vision defect detection dashboard. [BrainPad Case Study](https://ai.brainpad.co.jp/case-study/194/)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000" dirty="0"/>
          </a:p>
        </p:txBody>
      </p:sp>
      <p:pic>
        <p:nvPicPr>
          <p:cNvPr id="28" name="Picture 27" descr="crop_s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7539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Activity Substitution: Inventory Management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Stock Control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real-time computer vision feeds in warehouse and store shelf environments completely automates standard physical inventory audits.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 Profiling via Security Feeds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camera streams can be cross-analyzed to evaluate customer metrics such as age and gender demographics while strictly maintaining baseline data protection standards.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Synergistic Demand Forecasting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Combining shelf inventory levels with demographic purchasing patterns yields powerful, context-aware demand forecasting models that drastically optimize supply chains.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Synergistic integration of visual monitoring and behavioral metrics. [Case Study: Arts &amp; Crafts](https://www.arts-crafts.co.jp/post-1997/)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000" dirty="0"/>
          </a:p>
        </p:txBody>
      </p:sp>
      <p:pic>
        <p:nvPicPr>
          <p:cNvPr id="30" name="Picture 29" descr="crop_s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7727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Activity Substitution: Unmanned Retail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Technological Convergence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Synergizing automated self-checkout technology with advanced, camera-based inventory and tracking processes enables completely unmanned retail operations.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Addressing Demographic Challenges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paradigm represents a critical infrastructural solution for countries experiencing rapid demographic aging, severe labor shortages, and rural depopulation.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Pioneering Deployments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commercial deployments include automated pilot stores (e.g., Lawson, Monotaro AI stores), proving the viability of labor-minimized commerce models.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Unmanned store deployments and technological synergy. [Techfirm Retail Blog](https://www.techfirm.co.jp/blog/unmanned-stores-in-japan)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1000" dirty="0"/>
          </a:p>
        </p:txBody>
      </p:sp>
      <p:pic>
        <p:nvPicPr>
          <p:cNvPr id="21" name="Picture 20" descr="crop_s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99312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Implementation: Autonomous Vehicles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of Multi-AI Technologies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driving technology serves as an easily understandable, comprehensive model for the societal implementation of modern AI.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Replacing Human Environmental Perception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control a vehicle safely, simple execution of driving functions is not enough. The vehicle must accurately interpret video feeds from external camera inputs to perform advanced situations analysis.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Objects of Computer Vision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core of safety hinges on the rapid, real-time recognition of obstacles, pedestrian movement, and international road traffic regulations.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Simulated recognition targets for computer vision models (e.g., STOP and NO ENTRY regulations).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00" dirty="0"/>
          </a:p>
        </p:txBody>
      </p:sp>
      <p:pic>
        <p:nvPicPr>
          <p:cNvPr id="19" name="Picture 18" descr="crop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45672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Connected Cars: Shared Network Telemetry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Context Adjustments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perform accurate situation analysis, autonomous vehicles must continuously parse changing environments (e.g., localized weather, accidents, and fuel/charging stations).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Collective Telemetry Over Isolation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operating in isolated computation loops, sharing telemetry across multiple vehicles creates far superior, crowd-sourced map precision.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Connected Car Architecture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strategic vision of inter-vehicular communication and centralized server telemetry aggregation is termed the "Connected Car" paradigm.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Connected Car data-exchange architecture. [Ministry of Internal Affairs and Communications](https://www.soumu.go.jp/main_content/000501374.pdf)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1000" dirty="0"/>
          </a:p>
        </p:txBody>
      </p:sp>
      <p:pic>
        <p:nvPicPr>
          <p:cNvPr id="30" name="Picture 29" descr="crop_s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14055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Connected Cars: NaviCon System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Destination Recommendation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Connected vehicles open rich possibilities for localized, context-aware point-of-interest (POI) and destination recommendations while driving.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Smartphone Integration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Interfacing smartphone navigation directly with vehicle hardware allows dynamic route adjustments and on-the-fly spot recommendations based on live travel telemetry.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Industry Implementation: DENSO NaviCon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Developed by DENSO, the NaviCon application serves as a prime industry model, enabling seamless synchronization of smartphone-selected targets with vehicle infotainment units.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Dynamic POI transmission architecture. [DENSO NaviCon](https://navicon.com/user/support/howto/index.html)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1000" dirty="0"/>
          </a:p>
        </p:txBody>
      </p:sp>
      <p:pic>
        <p:nvPicPr>
          <p:cNvPr id="26" name="Picture 25" descr="crop_s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37189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Data-Driven Society Concept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Harnessing Big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demonstrated by autonomous and connected vehicles, aggregating massive datasets via ubiquitous IoT devices serves as the primary engine for providing advanced AI-driven public services.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Definition of Data-Driven Society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"Data-Driven Society" refers to a societal ecosystem where big data collection and algorithmic decision-making actively dictate resource allocation and social optimization.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Foundational Vision for the Future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concept acts as the cornerstone for next-generation economic, industrial, and administrative strategies globally.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Systematic flow of continuous data leveraging. [Ministry of Economy, Trade and Industry (METI)](https://www.meti.go.jp/committee/sankoushin/shojo/johokeizai/report_001.html)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000" dirty="0"/>
          </a:p>
        </p:txBody>
      </p:sp>
      <p:pic>
        <p:nvPicPr>
          <p:cNvPr id="27" name="Picture 26" descr="crop_s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37189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&amp; Technology Basic Plan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Five-Year Legislative Cycle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Japan, the Science and Technology Basic Law mandates the formulation of the Science and Technology Basic Plan every five years to anchor national research policies.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Coherent Historical Phases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strategic phases systematically dictate funding parameters and cross-institutional priorities across public, private, and academic sectors.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Birth of Society 5.0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proposed as the ideal blueprint for Japan's future under the 5th Basic Plan (FY2016-FY2020), this vision sets the definitive tone for national innovation.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867144" y="2505456"/>
            <a:ext cx="4381805" cy="10195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019849" y="2895905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7019849" y="2657246"/>
            <a:ext cx="4077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5th Basic Plan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19849" y="2980944"/>
            <a:ext cx="4077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Fiscal Years 2016 – 2020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19849" y="3209544"/>
            <a:ext cx="4077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and Definition of Society 5.0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67144" y="3638398"/>
            <a:ext cx="4381805" cy="10195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019849" y="4029761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7019849" y="3791102"/>
            <a:ext cx="4077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6th Basic Plan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19849" y="4114800"/>
            <a:ext cx="4077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Fiscal Years 2021 – 2025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19849" y="4343400"/>
            <a:ext cx="4077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rapid social implementation &amp; innovation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67144" y="4772254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[Cabinet Office, Government of Japan](https://www8.cao.go.jp/cstp/society5_0/)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144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1.0 - 3.0: Historical Transitions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1.0: Hunting &amp; Gathering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4423"/>
            <a:ext cx="457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primordial stage of human civilization, sustained entirely by direct collection of wild plants and cooperative hunting in nature.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1028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2.0: Agricultural Settlement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102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Triggered by the agricultural settlement revolution. Established permanent living and agricultural cultivation, dominant up to the late 18th century.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91911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3.0: Industrial Revolution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219956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Initiated by the Industrial Revolution in the late 18th century. Shifted humanity toward factory mass production and fossil fuel energy utilization (18th to late 20th century).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</a:t>
            </a:r>
            <a:endParaRPr lang="en-US" sz="1000" dirty="0"/>
          </a:p>
        </p:txBody>
      </p:sp>
      <p:pic>
        <p:nvPicPr>
          <p:cNvPr id="20" name="Picture 19" descr="s16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634" y="1810512"/>
            <a:ext cx="3344091" cy="1874519"/>
          </a:xfrm>
          <a:prstGeom prst="rect">
            <a:avLst/>
          </a:prstGeom>
        </p:spPr>
      </p:pic>
      <p:pic>
        <p:nvPicPr>
          <p:cNvPr id="21" name="Picture 20" descr="s16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636" y="3840480"/>
            <a:ext cx="1274087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53043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4.0: The Information Society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4.0 Definition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"Information Society" (representing modern society) succeeded Industrial Society, defined fundamentally by computing and data networks.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Proliferation of Web &amp; Internet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rapid adoption of computers and internet connectivity catalyzed a hyper-connected public landscape, yielding massive data growth.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"Data Overflow" Trap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era, humanity has essentially become overwhelmed by big data, with information retrieval and manual synthesis posing heavy cognitive and structural burdens.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Material: [Cabinet Office, Government of Japan](https://www8.cao.go.jp/cstp/society5_0/)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</a:t>
            </a:r>
            <a:endParaRPr lang="en-US" sz="1000" dirty="0"/>
          </a:p>
        </p:txBody>
      </p:sp>
      <p:pic>
        <p:nvPicPr>
          <p:cNvPr id="21" name="Picture 20" descr="crop_s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22538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5.0: The Cyber-Physical Concept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New Structural Interface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Society 4.0, which relies on humans manually searching, analyzing, and acting upon cloud-sourced knowledge, Society 5.0 automates this loop.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Cyber-Physical Fusion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paradigm, extensive IoT sensor arrays map physical-space dynamics into high-performance cyber-space computing environments instantly.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AI-Integrated Execution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artificial intelligence models parse this cyber representation to deliver automated optimizations directly back into physical reality, breaking previous structural limits.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Evolution of Cyber-Physical workflow orchestration. [Cabinet Office](https://www8.cao.go.jp/cstp/society5_0/)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</a:t>
            </a:r>
            <a:endParaRPr lang="en-US" sz="1000" dirty="0"/>
          </a:p>
        </p:txBody>
      </p:sp>
      <p:pic>
        <p:nvPicPr>
          <p:cNvPr id="26" name="Picture 25" descr="crop_s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915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5.0: The Four Strategic Pillars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380744" y="2295144"/>
            <a:ext cx="237744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1380744" y="1952244"/>
            <a:ext cx="28346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80744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Omni-Connected IoT Synergy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Bridging isolated information spaces via unified IoT frameworks. Promotes massive data synergy and creates entirely new value streams.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1402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429146" y="2295144"/>
            <a:ext cx="276149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9146" y="1952244"/>
            <a:ext cx="30449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29146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 Innovation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29146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systematic technology and robotic automation to address the socioeconomic challenges of aging populations and regional depopulation.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380744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1380744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Cognitive Offloading via AI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Shifting the burden of data searching and curation onto autonomous AI models, providing contextual intelligence exactly when needed.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1402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29146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29146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9146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Capability Expansion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29146" y="4552798"/>
            <a:ext cx="4381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Drastically expanding human capabilities, transport logistics, and mechanical safety through autonomous driving fleets and assistive robotics.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76178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Implementation Platform: Smart Cities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Precursor to Society 5.0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Cities serve as the pioneering sandbox, testbed environments, and baseline infrastructure for realizing the strategic objectives of Society 5.0.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Public-Private Partnerships (PPP)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August 2018, the Government of Japan established the Smart City Public-Private Partnership Platform to coordinate administrative legislation and tech ecosystems.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Unified Technological Integration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initiatives sync municipal transit, public administration, healthcare, and energy sectors into unified IoT structures.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Partnership Platform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000" dirty="0"/>
          </a:p>
        </p:txBody>
      </p:sp>
      <p:pic>
        <p:nvPicPr>
          <p:cNvPr id="22" name="Picture 21" descr="crop_s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60176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National Strategy: The Super City Law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Accelerating Societal Transition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scale up smart cities into highly integrated "Super Cities" (Society 5.0), Japan passed landmark legislation to execute cross-cutting regulatory reforms.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Amendment Passage (May 2020)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Diet passed the Bill to Partially Amend the National Strategic Special Zones Act (commonly referred to as the Super City Law), enabling localized regulatory bypasses.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Synergistic Multi-Domain Services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optimizing single verticals, the law coordinates data links across multiple life-supporting services (finance, medical, energy) to establish clear demographic value evaluated by local citizens.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[National Strategic Special Zones Open Lab](https://www.kantei.go.jp/jp/singi/tiiki/kokusentoc/supercity/openlabo/supercitycontents.html)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</a:t>
            </a:r>
            <a:endParaRPr lang="en-US" sz="1000" dirty="0"/>
          </a:p>
        </p:txBody>
      </p:sp>
      <p:pic>
        <p:nvPicPr>
          <p:cNvPr id="22" name="Picture 21" descr="crop_s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2990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Smart City Model: Toyota Woven City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Human-Centered Living Laboratory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Toyota's Woven City represents a prime, privately-funded real-world testbed designed specifically to test emerging technologies in a real residential setting.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Core Philosophy Pillars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centers around three immutable core values: Human-Centered Design, A Living Laboratory for experimental technologies, and An Ever-Evolving, Unfinished City.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 Scaling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Starting with 360 residents and expanding to over 2,000 (including researchers and engineers), the city constructs a live data framework to solve critical urban challenges.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5212080"/>
            <a:ext cx="4544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Hub: [Woven City Global Portal](https://www.woven-city.global/jpn)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1000" dirty="0"/>
          </a:p>
        </p:txBody>
      </p:sp>
      <p:pic>
        <p:nvPicPr>
          <p:cNvPr id="22" name="Picture 21" descr="crop_s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47088"/>
            <a:ext cx="454456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9730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6th Basic Plan (Innovation Strategy)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Brand-New Nomenclature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81505"/>
            <a:ext cx="5143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Covering FY2021-FY2025, Japan renamed its legislative policy to the "Science, Technology, and Innovation Basic Plan" to emphasize social implementation.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3802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Social Deployment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00807"/>
            <a:ext cx="5143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core objective shifts from basic laboratory research toward rapid, crisis-aware social implementation loops to realize Society 5.0 immediately.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53105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 Structural Goals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619195"/>
            <a:ext cx="5143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Prioritizes robust R&amp;D investment parameters, global talent cultivation, collaborative socio-technical dialogue, and resilient systems capable of tackling public health and national safety crises.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867144" y="2734056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Concrete Materialization of Society 5.0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3209544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Crisis-Aware Speed in Social Implementation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3685946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Cultivation of Global Research Talent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4162349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Public-Private R&amp;D Investment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543654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[CSTP Innovation Basic Plan](https://www8.cao.go.jp/cstp/kihonkeikaku/index6.html)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2661</Words>
  <Application>Microsoft Macintosh PowerPoint</Application>
  <PresentationFormat>ワイド画面</PresentationFormat>
  <Paragraphs>276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Arial</vt:lpstr>
      <vt:lpstr>Courier New</vt:lpstr>
      <vt:lpstr>Noto Sans</vt:lpstr>
      <vt:lpstr>Playfair Display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和﨑　克己</cp:lastModifiedBy>
  <cp:revision>1</cp:revision>
  <dcterms:created xsi:type="dcterms:W3CDTF">2026-06-18T11:16:36Z</dcterms:created>
  <dcterms:modified xsi:type="dcterms:W3CDTF">2026-06-18T12:26:38Z</dcterms:modified>
</cp:coreProperties>
</file>