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84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1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15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095805"/>
            <a:ext cx="9906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kern="0" spc="315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2-1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53005"/>
            <a:ext cx="9906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and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Engineering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572000"/>
            <a:ext cx="9906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University of Tokyo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Center for Research and Development on Transition to Modern Education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5219395"/>
            <a:ext cx="9906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May 26, 2021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197967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9402"/>
            <a:ext cx="9906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the progress of ICT and Big Data Systems: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9905695" cy="1218895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1380744" y="2523744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57146" y="2523744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Infrastructure Background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57146" y="2838298"/>
            <a:ext cx="8953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the technological background and infrastructural advancements (e.g., broadband and cellular evolution) that made data engineering possible.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3655771"/>
            <a:ext cx="9905695" cy="1218895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1380744" y="3893515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60804" y="3893515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Multi-Domain Industrial Applications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60804" y="4208069"/>
            <a:ext cx="8953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practical data-driven case studies across retail, manufacturing, logistics, and primary industries (agriculture &amp; fishery).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412851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981505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163860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04695" y="1638605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Conceptual Definition and Data Proliferation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96805" y="1652321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4-5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447849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43000" y="2104949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904695" y="2104949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Key Challenges of Big Data Leverage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96805" y="2119579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p. 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2915107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43000" y="2572207"/>
            <a:ext cx="6080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04695" y="2572207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Enabling Background: ICT &amp; Hardware Infrastructure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96805" y="2585923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7-13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3381451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1143000" y="3038551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904695" y="3038551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Multi-Domain Case Studies (Retail, Logistics, Industrial)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96805" y="3053182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17-26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" y="3847795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1143000" y="350489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904695" y="3504895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Data Classifications &amp; Primary Sector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96805" y="3519526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27-31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412851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Defining Big Data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Massive Digital Telemetry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its core, Big Data refers to massive volumes of digital information that are generated, formatted, and propagated seamlessly across the internet.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Proliferation of Behavioral Logs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Typical examples include social network interactions (SNS), search histories, and purchase telemetry on e-commerce platforms or physical POS retail networks.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&amp; Experimental Observations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Big data extends to scientific and natural realms, such as high-frequency meteorological data, seismic wave sensors, and particle physics experiment outputs.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[McKinsey Report (2011)](https://www.mckinsey.com/business-functions/mckinsey-digital/our-insights/big-data-the-next-frontier-for-innovation)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00" dirty="0"/>
          </a:p>
        </p:txBody>
      </p:sp>
      <p:pic>
        <p:nvPicPr>
          <p:cNvPr id="22" name="Picture 21" descr="crop_s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60323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Proliferation of Data Volume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Ubiquitous Data Generation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society is constantly surrounded by massive streams of continuous data. Every micro-action contributes directly to the expansion of the digital universe.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Micro-Actions (Per Minute)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studies reveal staggering levels of data creation every single minute: millions of media views, hundreds of millions of emails, and hundreds of thousands of uploads.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Accelerating Big Data Creation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organic, user-driven behavior across smartphones, applications, and social platforms acts as the primary catalyst accelerating big data generation globally.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minute metrics based on 2019 census data. [Domo Data Blog](https://web-assets.domo.com/blog/wp-content/uploads/2019/07/data-never-sleeps-7-896kb.jpg)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000" dirty="0"/>
          </a:p>
        </p:txBody>
      </p:sp>
      <p:pic>
        <p:nvPicPr>
          <p:cNvPr id="27" name="Picture 26" descr="crop_s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1824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Key Challenges of Big Data Leverage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380744" y="2295144"/>
            <a:ext cx="237744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1380744" y="1952244"/>
            <a:ext cx="28346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80744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Massive Storage Capacity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to reliably and cost-effectively ingest, store, and partition petabyte-scale unstructured datasets over 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1402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429146" y="2295144"/>
            <a:ext cx="276149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9146" y="1952244"/>
            <a:ext cx="30449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29146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High-Performance Processing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29146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Achieving low latency and high throughput when filtering, sorting, or joining massive datasets in distributed architectures.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380744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1380744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Knowledge Extraction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statistical models, machine learning, and semantic pipelines to convert raw telemetry into valuable business insights.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1402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29146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29146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9146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&amp; Privacy Protection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29146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Establishing robust cryptographic frameworks, anonymization, and access control models to safeguard sensitive user data.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8354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Enabling Background: ICT Progress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Progress of ICT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rising prominence of Big Data and modern Data Engineering is unequivocally driven by the massive advancements in Information and Communications Technology (ICT).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Explosive Data Ingestion Capabilities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High-capacity telecommunication infrastructure has drastically boosted data collection pipelines. Simultaneously, user behaviors (e.g. SNS) have moved raw data production completely online.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Network Proliferation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understand this evolution, we must analyze the rapid penetration of high-speed broadband and high-bandwidth wireless cellular networks globally.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Structural flow of modern network data ingestion.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00" dirty="0"/>
          </a:p>
        </p:txBody>
      </p:sp>
      <p:pic>
        <p:nvPicPr>
          <p:cNvPr id="27" name="Picture 26" descr="crop_s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53043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Evolution of Broadband Contracts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Wired &amp; Wireless Proliferation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structural metrics show a rapid transition toward high-speed, high-performance bandwidth lines on both fixed and mobile networks.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Broadband Growth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Fixed-line infrastructure migrated rapidly from copper DSL models to ultra-fast fiber FTTH (Fiber-to-the-Home) networks, establishing Gbps-scale household access.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Explosive Mobile Ingestion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adoption of broadband mobile contracts (such as LTE and BWA) surpassed fixed networks by orders of magnitude, cementing continuous, high-volume mobile telemetry.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[Ministry of Internal Affairs and Communications (MIC) White Paper (2020)](https://www.soumu.go.jp/johotsusintokei/whitepaper/ja/r02/html/nd252210.html)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00" dirty="0"/>
          </a:p>
        </p:txBody>
      </p:sp>
      <p:pic>
        <p:nvPicPr>
          <p:cNvPr id="35" name="Picture 34" descr="crop_s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60323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Mobile Network Traffic Explosion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Traffic Growth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4423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Paralleling the broadband contract proliferation is the exponential surge in actual mobile network traffic transiting through regional telecommunication cellular towers.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24251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Mobile Adoption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24174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rising integration of high-definition streaming, cloud telemetry, app distribution, and continuous GPS location tracking has generated astronomical traffic growth.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1340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Data Engineering Mandate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33926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Handling these soaring multi-terabit network loads made the development of highly scalable distributed computing frameworks and database engines an absolute necessity.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224320" y="5130698"/>
            <a:ext cx="4906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Rapid exponential growth curve of mobile communication traffic. [MIC Whitepaper](https://www.soumu.go.jp/johotsusintokei/field/data/gt010602.pdf)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00" dirty="0"/>
          </a:p>
        </p:txBody>
      </p:sp>
      <p:pic>
        <p:nvPicPr>
          <p:cNvPr id="19" name="Picture 18" descr="crop_s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20" y="1842516"/>
            <a:ext cx="4906670" cy="3215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8354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Storage Hardware Expansion Trends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Solving the Ingestion Bottleneck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4423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first primary challenge of big data leverage—retaining massive volumes of information—was systematically resolved by hardware innovations in storage density.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24251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Magnetic &amp; Solid State Evolution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24174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 recent decades, HDD (Hard Disk Drive) density and DRAM (Dynamic Random Access Memory) chip capacity have followed an aggressive exponential growth curve.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1340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Foundations of Distributed Databases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33926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rapid, hardware-driven drop in cost-per-gigabyte laid the indispensable foundation for building modern, distributed database architectures.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224320" y="5130698"/>
            <a:ext cx="4906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Historical capacity expansion trends of HDD and DRAM hardware. [NHK Science &amp; Technology Research Labs](https://www.nhk.or.jp/strl/publica/rd/181/2.html)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1000" dirty="0"/>
          </a:p>
        </p:txBody>
      </p:sp>
      <p:pic>
        <p:nvPicPr>
          <p:cNvPr id="19" name="Picture 18" descr="crop_s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20" y="1842516"/>
            <a:ext cx="4906670" cy="3215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4399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POS Analytics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Point-of-Sale Telemetry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Recording transactions directly inside physical retail outlets (POS) captures rich behavioral metadata, acting as a crucial component of modern marketing analytics.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Basket &amp; Supply Synergy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co-occurrence probabilities of purchase items enables optimal shelf layouts. Modeling temporal variations allows adaptive supply chain planning based on weather or localized events.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Campaign Measurement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exact purchase reaction logs after marketing campaigns allows food &amp; beverage enterprises to drastically trim wasteful advertising costs while expanding gross margins.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Case Study: One-to-One Marketing Campaign Efficiency. [Liskul Retail Analytics](https://liskul.com/one-to-onemarketing-13202)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</a:t>
            </a:r>
            <a:endParaRPr lang="en-US" sz="1000" dirty="0"/>
          </a:p>
        </p:txBody>
      </p:sp>
      <p:pic>
        <p:nvPicPr>
          <p:cNvPr id="22" name="Picture 21" descr="crop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2990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EC Marketing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Granular Behavioral Logs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physical stores, digital actions on e-commerce (EC) platforms generate continuous, granular clickstream logs and behavioral records per individual user.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Cookie-Based Identity Tracking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Utilizing client-side cookie identifiers and past purchase histories allows operators to run personalized, real-time campaign optimizations rather than mass marketing.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One-to-One Marketing Paradigm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systematic strategy focuses on targeting users individually with tailored recommendations or related-product promotions, which boosts conversion rates.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Concepts: E-commerce behavioral telemetry and personalized targeting.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</a:t>
            </a:r>
            <a:endParaRPr lang="en-US" sz="1000" dirty="0"/>
          </a:p>
        </p:txBody>
      </p:sp>
      <p:pic>
        <p:nvPicPr>
          <p:cNvPr id="22" name="Picture 21" descr="crop_s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737189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Paradigms of Recommendation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of Recommendation Systems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Recommendation systems represent one of the most commercially successful implementations of big data, serving as a primary driver of digital platform engagement.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 user preferences based entirely on aggregate purchase histories of other similar users. It requires no demographic metadata but suffers from cold-start problems with new items.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Content/Attribute-Based Filtering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Utilizes metadata profiles of users and product attributes directly. While highly effective at recommending brand-new releases, it cannot function if attribute profiles are missing.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Comparing collaborative filtering vs. attribute-based approaches.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</a:t>
            </a:r>
            <a:endParaRPr lang="en-US" sz="1000" dirty="0"/>
          </a:p>
        </p:txBody>
      </p:sp>
      <p:pic>
        <p:nvPicPr>
          <p:cNvPr id="24" name="Picture 23" descr="crop_s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906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Amazon: Item-to-Item Collaborative Filtering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Personalization as the Core Strategy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Amazon.com leverages its recommendation engine not merely as an add-on, but as a central framework to completely personalize the user's web storefront experience.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Item-to-Item Collaborative Filtering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implemented in 1998, this classic algorithm pairs purchased items with closely-related inventory. This approach scales seamlessly to millions of concurrent customers.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Offline/Online Computation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Computes complex product similarity tables entirely offline. The online component performs simple key-value lookups based on a user's active cart, ensuring sub-second response times.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[Linden, Smith, &amp; York (2003)](https://ieeexplore.ieee.org/document/1167344) &amp; [Smith &amp; Linden (2017)](https://ieeexplore.ieee.org/document/7924241)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000" dirty="0"/>
          </a:p>
        </p:txBody>
      </p:sp>
      <p:pic>
        <p:nvPicPr>
          <p:cNvPr id="30" name="Picture 29" descr="crop_s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45672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YouTube: Co-viewing Recommendation Model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Defining Video Relatedness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YouTube maps video associations based on co-viewing patterns—identifying which subsequent videos are watched after viewing an initial Video 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Precomputed Association Sets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algorithm pre-calculates the Top-N related videos for each entry, forming a precomputed related video set R(A) to ensure instantaneous serving latency.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Recursive Recommendation Graph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live system cross-references active user histories with these sets, expanding recommendations to include secondary degrees of association, such as related videos of R(A).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[Davidson et al., ACM Recommender Systems (2010)](https://dl.acm.org/doi/10.1145/1864708.1864770)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</a:t>
            </a:r>
            <a:endParaRPr lang="en-US" sz="1000" dirty="0"/>
          </a:p>
        </p:txBody>
      </p:sp>
      <p:pic>
        <p:nvPicPr>
          <p:cNvPr id="27" name="Picture 26" descr="crop_s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109444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Netflix: Multi-Algorithm Recommendation Matrices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CTR Conversion Drive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Approximately 80% of total viewing hours on Netflix are driven directly by personalized recommendations, underscoring the critical business value of algorithmic personalization.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Unified Grid Interface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using a single algorithm, Netflix serves a matrixed interface where each horizontal row represents an entirely different specialized recommender model.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Multi-Dimensional Scoring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Separate algorithms run concurrently in real time, sorting specific categories, trending releases, and genre preferences adjusted to user demographic profiles.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Mock of row-based algorithm mapping in the Netflix interface. [Gomez-Uribe &amp; Hunt (2016)](https://dl.acm.org/doi/10.1145/2843948)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1000" dirty="0"/>
          </a:p>
        </p:txBody>
      </p:sp>
      <p:pic>
        <p:nvPicPr>
          <p:cNvPr id="28" name="Picture 27" descr="crop_s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76178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Human Mobility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Mapping Spatio-Temporal Flows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Measuring, predicting, and optimizing human movement dynamics in physical space represents a highly impactful area of big data application.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Optimizing Public Spaces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Commercial and public organizations capture visitor movement patterns within museums or retail layouts to dynamically restructure pathing, traffic signs, and exhibits.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Emergency Disaster Navigation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Connecting real-time crowding telemetry with digital signage systems allows authorities to dynamically route evacuation paths during catastrophic natural events.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[AIST Artificial Intelligence Research Center](https://www.airc.aist.go.jp/achievements/ja/p-028.html) &amp; [Nikkei XTech](https://xtech.nikkei.com/it/atcl/column/14/122600137/122600001/)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</a:t>
            </a:r>
            <a:endParaRPr lang="en-US" sz="1000" dirty="0"/>
          </a:p>
        </p:txBody>
      </p:sp>
      <p:pic>
        <p:nvPicPr>
          <p:cNvPr id="22" name="Picture 21" descr="crop_s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30676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Machine Telemetry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Industrial IoT Telemetry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 as human behavioral logs are parsed as big data, high-frequency physical telemetry and machine operational logs represent an identical paradigm shift.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Fleet Ingestion: Komatsu KOMTRAX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an industry pioneer, Komatsu equips standard machinery fleets with KOMTRAX sensors, centralizing real-time positioning and mechanical strain logs over wireless networks.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Failure Analysis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Turbine power plant operators (e.g., IHI) aggregate massive operational telemetry, modeling baseline dynamics to predict critical anomalies and prevent physical failure.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References: [Komatsu KOMTRAX](https://sanki.komatsu/komtrax/) &amp; [IHI Lifecycle Operation Support](https://www.ihi.co.jp/powersystems/lifecycle/operation_support/index.html)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1000" dirty="0"/>
          </a:p>
        </p:txBody>
      </p:sp>
      <p:pic>
        <p:nvPicPr>
          <p:cNvPr id="22" name="Picture 21" descr="crop_s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2208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Syslog Diagnostics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System-Level Event Logs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High-volume information system logs represent critical, unstructured big data, parsed extensively to model complex infrastructure health.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Failure of Simple Rule-Based Alerts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networks rely on hardcoded thresholds for hardware failures. However, they struggle to capture latent, pre-failure anomalies, traditionally relying on veteran experience.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Mapping Co-occurrence (Syslog Analysis)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single anomaly triggers cascading logs across multiple network elements. Modeling these co-occurrence events enables highly precise diagnostic mapping.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[T. Kimura, Syslog Analysis for Large-scale Network Failures (2015)](https://search.ieice.org/bin/summary.php?id=j98-b_9_823)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</a:t>
            </a:r>
            <a:endParaRPr lang="en-US" sz="1000" dirty="0"/>
          </a:p>
        </p:txBody>
      </p:sp>
      <p:pic>
        <p:nvPicPr>
          <p:cNvPr id="22" name="Picture 21" descr="crop_s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39236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Socio-Technical Data Classifications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380744" y="2295144"/>
            <a:ext cx="237744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1380744" y="1952244"/>
            <a:ext cx="28346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80744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Telemetry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2648102"/>
            <a:ext cx="4381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image processing algorithms for automated piloting systems, vehicle identification, smart food sorting, and deep-learning cancer detection.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1402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429146" y="2295144"/>
            <a:ext cx="276149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9146" y="1952244"/>
            <a:ext cx="30449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29146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Voice &amp; Audio Streams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29146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voice recognition (Apple Siri, Alexa) paired with advanced text-to-speech synthesis models used in automated news anchors.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380744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1380744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 &amp; Natural Language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neural machine translation models (Google GNMT) and deep generative neural networks to automate comprehensive article writing.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1402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29146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29146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9146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Sensor &amp; Temporal Logs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29146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industrial IoT, syslog co-occurrence networks, GPS mobility tracks, and point-of-sale customer purchase history logs.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9240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Industrial Innovations: Smart Agriculture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Spatio-Temporal Crop Monitoring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farm conditions via multispectral satellite imagery and ground-level wireless sensor arrays enables highly efficient, localized crop management (e.g., viticulture).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Systematic Agricultural Collaboration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scale productivity, national initiatives coordinate cross-industry databases, establishing unified data pipelines to sharing climate, soil, and yield metrics.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WAGRI Integration Initiative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establishment of the Agricultural Data Collaboration Platform (WAGRI) provides a highly unified API network that integrates public weather, geological, and agricultural telemetry.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[Smart Agriculture Japan](https://smartagri-jp.com/smartagri/20) &amp; [WAGRI Consortium Portal](https://wagri.net/ja-jp/)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1000" dirty="0"/>
          </a:p>
        </p:txBody>
      </p:sp>
      <p:pic>
        <p:nvPicPr>
          <p:cNvPr id="22" name="Picture 21" descr="crop_s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84956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Industrial Innovations: Smart Fisheries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Harvest Modeling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predictive harvest models based on historical catch records, meteorological conditions, and real-time ocean current sensors optimizes set-net fishery yields.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Sea Resource Forecasting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Pelagic fleets (e.g., skipjack and tuna fisheries) aggregate massive oceanographical datasets, using sea surface temperatures to model fish school movement and map maritime resources.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Aquaculture &amp; Efficiency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Integrating water quality telemetry with automated computer vision feeders optimizes fish growth and operational workflows in modern aquaculture facilities.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5820" y="5320894"/>
            <a:ext cx="452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[MIC Smart Fishery Initiative (2017)](https://www.soumu.go.jp/main_sosiki/joho_tsusin/top/local_support/ict/jirei/2017_013.html) &amp; [Nissui Aquaculture Life-cycle](https://nissui.disclosure.site/ja/themes/144)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</a:t>
            </a:r>
            <a:endParaRPr lang="en-US" sz="1000" dirty="0"/>
          </a:p>
        </p:txBody>
      </p:sp>
      <p:pic>
        <p:nvPicPr>
          <p:cNvPr id="22" name="Picture 21" descr="crop_s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0" y="1842516"/>
            <a:ext cx="4525366" cy="340522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709574"/>
            <a:ext cx="853043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Summary: Big Data &amp; Data Engineering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9402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Co-evolution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48002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exponential growth of big data is deeply intertwined with high-speed telecommunications, drop in hardware cost-per-gigabyte, and the proliferation of IoT networks.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82596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Knowledge Extraction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711196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Practical business success across e-commerce (Amazon), streaming (Netflix, YouTube), and logistics hinges on shifting from mass-marketing to precise, one-to-one algorithmic models.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45790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Broad Industrial Landscape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574390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high-frequency industrial IoT, Syslog anomaly mining, and GPS human mobility networks, to WAGRI agricultural APIs and predictive fisheries, data engineering actively optimizes our primary, secondary, and tertiary sectors.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867144" y="2963570"/>
            <a:ext cx="438180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7105802" y="3480206"/>
            <a:ext cx="39054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Engineering Paradigm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05802" y="3879799"/>
            <a:ext cx="39054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Transitioning from passive data storage to automated, real-time context-aware decision systems that actively optimize human societal capabilities.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2825</Words>
  <Application>Microsoft Macintosh PowerPoint</Application>
  <PresentationFormat>ワイド画面</PresentationFormat>
  <Paragraphs>270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Arial</vt:lpstr>
      <vt:lpstr>Noto Sans</vt:lpstr>
      <vt:lpstr>Playfair Display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和﨑　克己</cp:lastModifiedBy>
  <cp:revision>1</cp:revision>
  <dcterms:created xsi:type="dcterms:W3CDTF">2026-06-18T11:49:30Z</dcterms:created>
  <dcterms:modified xsi:type="dcterms:W3CDTF">2026-06-18T12:33:32Z</dcterms:modified>
</cp:coreProperties>
</file>