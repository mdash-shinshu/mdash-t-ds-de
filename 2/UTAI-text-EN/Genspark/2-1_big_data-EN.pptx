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2095805"/>
            <a:ext cx="9906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spc="315" kern="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Section 2-1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553005"/>
            <a:ext cx="9906610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Big Data and</a:t>
            </a:r>
            <a:pPr algn="l" indent="0" marL="0">
              <a:buNone/>
            </a:pP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Data Engineering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4572000"/>
            <a:ext cx="9906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University of Tokyo</a:t>
            </a:r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Center for Research and Development on Transition to Modern Education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5219395"/>
            <a:ext cx="9906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May 26, 2021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6215177"/>
            <a:ext cx="315193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Hiroshi Saito, The University of Tokyo 2021 CC BY-NC-SA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0" y="6195974"/>
            <a:ext cx="8595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709574"/>
            <a:ext cx="1979676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Overview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619402"/>
            <a:ext cx="99066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Understanding the progress of ICT and Big Data Systems: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43000" y="2286000"/>
            <a:ext cx="9905695" cy="1218895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80744" y="2523744"/>
            <a:ext cx="32918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857146" y="2523744"/>
            <a:ext cx="89538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Socio-Technical Infrastructure Background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857146" y="2838298"/>
            <a:ext cx="89538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Understand the technological background and infrastructural advancements (e.g., broadband and cellular evolution) that made data engineering possible.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43000" y="3655771"/>
            <a:ext cx="9905695" cy="1218895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80744" y="3893515"/>
            <a:ext cx="32918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860804" y="3893515"/>
            <a:ext cx="89538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Multi-Domain Industrial Applications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860804" y="4208069"/>
            <a:ext cx="89538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Explore practical data-driven case studies across retail, manufacturing, logistics, and primary industries (agriculture &amp; fishery).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6215177"/>
            <a:ext cx="315193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Hiroshi Saito, The University of Tokyo 2021 CC BY-NC-SA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0" y="6195974"/>
            <a:ext cx="8595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709574"/>
            <a:ext cx="4128516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143000" y="1981505"/>
            <a:ext cx="9905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1638605"/>
            <a:ext cx="571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904695" y="1638605"/>
            <a:ext cx="8192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Conceptual Definition and Data Proliferation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96805" y="1652321"/>
            <a:ext cx="952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pp. 4-5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143000" y="2447849"/>
            <a:ext cx="9905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43000" y="2104949"/>
            <a:ext cx="571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II.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904695" y="2104949"/>
            <a:ext cx="8192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Four Key Challenges of Big Data Leverage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096805" y="2119579"/>
            <a:ext cx="952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p. 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43000" y="2915107"/>
            <a:ext cx="9905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43000" y="2572207"/>
            <a:ext cx="60807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III.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904695" y="2572207"/>
            <a:ext cx="8192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Enabling Background: ICT &amp; Hardware Infrastructure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096805" y="2585923"/>
            <a:ext cx="952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pp. 7-13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143000" y="3381451"/>
            <a:ext cx="9905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43000" y="3038551"/>
            <a:ext cx="571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IV.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904695" y="3038551"/>
            <a:ext cx="8192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Multi-Domain Case Studies (Retail, Logistics, Industrial)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096805" y="3053182"/>
            <a:ext cx="952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pp. 17-26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143000" y="3847795"/>
            <a:ext cx="9905695" cy="914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43000" y="3504895"/>
            <a:ext cx="571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V.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904695" y="3504895"/>
            <a:ext cx="8192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Socio-Technical Data Classifications &amp; Primary Sector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096805" y="3519526"/>
            <a:ext cx="952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pp. 27-31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6215177"/>
            <a:ext cx="315193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Hiroshi Saito, The University of Tokyo 2021 CC BY-NC-SA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10972800" y="6195974"/>
            <a:ext cx="8595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709574"/>
            <a:ext cx="4128516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Defining Big Data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Massive Digital Telemetry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 its core, Big Data refers to massive volumes of digital information that are generated, formatted, and propagated seamlessly across the internet.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Proliferation of Behavioral Logs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Typical examples include social network interactions (SNS), search histories, and purchase telemetry on e-commerce platforms or physical POS retail networks.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Natural &amp; Experimental Observations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Big data extends to scientific and natural realms, such as high-frequency meteorological data, seismic wave sensors, and particle physics experiment outputs.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67805" y="1714500"/>
            <a:ext cx="4781398" cy="420989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67144" y="2890418"/>
            <a:ext cx="4381805" cy="11713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867144" y="2890418"/>
            <a:ext cx="47549" cy="117134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05802" y="3081528"/>
            <a:ext cx="3952951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"Big data: The next frontier for innovation, competition, and productivity."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105802" y="3709721"/>
            <a:ext cx="39529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 McKinsey Global Institute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867144" y="4205326"/>
            <a:ext cx="438180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Source: [McKinsey Report (2011)](https://www.mckinsey.com/business-functions/mckinsey-digital/our-insights/big-data-the-next-frontier-for-innovation)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6215177"/>
            <a:ext cx="315193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Hiroshi Saito, The University of Tokyo 2021 CC BY-NC-SA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0" y="6195974"/>
            <a:ext cx="8595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709574"/>
            <a:ext cx="7603236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Proliferation of Data Volume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Ubiquitous Data Generation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Modern society is constantly surrounded by massive streams of continuous data. Every micro-action contributes directly to the expansion of the digital universe.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High-Frequency Micro-Actions (Per Minute)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Statistical studies reveal staggering levels of data creation every single minute: millions of media views, hundreds of millions of emails, and hundreds of thousands of uploads.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Accelerating Big Data Creation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organic, user-driven behavior across smartphones, applications, and social platforms acts as the primary catalyst accelerating big data generation globally.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67805" y="1714500"/>
            <a:ext cx="4781398" cy="420989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67144" y="2576779"/>
            <a:ext cx="4381805" cy="55229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8195" y="2747772"/>
            <a:ext cx="17913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YouTube Video Views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965131" y="2700223"/>
            <a:ext cx="131490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4.5 Million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867144" y="3271723"/>
            <a:ext cx="4381805" cy="55229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48195" y="3443630"/>
            <a:ext cx="163311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Emails Transmitted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902038" y="3396082"/>
            <a:ext cx="139446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188 Million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867144" y="3967582"/>
            <a:ext cx="4381805" cy="55229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48195" y="4138574"/>
            <a:ext cx="205191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Instagram Stories/Posts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235794" y="4091026"/>
            <a:ext cx="997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335,000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867144" y="4519879"/>
            <a:ext cx="438180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Every minute metrics based on 2019 census data. [Domo Data Blog](https://web-assets.domo.com/blog/wp-content/uploads/2019/07/data-never-sleeps-7-896kb.jpg)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6215177"/>
            <a:ext cx="315193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Hiroshi Saito, The University of Tokyo 2021 CC BY-NC-SA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0" y="6195974"/>
            <a:ext cx="8595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709574"/>
            <a:ext cx="91824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Four Key Challenges of Big Data Leverage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143000" y="1714500"/>
            <a:ext cx="4858207" cy="17145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80744" y="2295144"/>
            <a:ext cx="237744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80744" y="1952244"/>
            <a:ext cx="283464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80744" y="2381098"/>
            <a:ext cx="43818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Massive Storage Capacity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380744" y="2648102"/>
            <a:ext cx="4381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How to reliably and cost-effectively ingest, store, and partition petabyte-scale unstructured datasets over time.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91402" y="1714500"/>
            <a:ext cx="4858207" cy="17145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29146" y="2295144"/>
            <a:ext cx="276149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9146" y="1952244"/>
            <a:ext cx="30449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29146" y="2381098"/>
            <a:ext cx="43818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High-Performance Processing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29146" y="2648102"/>
            <a:ext cx="4381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Achieving low latency and high throughput when filtering, sorting, or joining massive datasets in distributed architectures.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143000" y="3619195"/>
            <a:ext cx="4858207" cy="17145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80744" y="4200754"/>
            <a:ext cx="26700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380744" y="3857854"/>
            <a:ext cx="303581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380744" y="4286707"/>
            <a:ext cx="43818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High-Value Knowledge Extraction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380744" y="4552798"/>
            <a:ext cx="4381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Leveraging statistical models, machine learning, and semantic pipelines to convert raw telemetry into valuable business insights.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91402" y="3619195"/>
            <a:ext cx="4858207" cy="17145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29146" y="4200754"/>
            <a:ext cx="26700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29146" y="3857854"/>
            <a:ext cx="303581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429146" y="4286707"/>
            <a:ext cx="43818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Security &amp; Privacy Protection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29146" y="4552798"/>
            <a:ext cx="4381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Establishing robust cryptographic frameworks, anonymization, and access control models to safeguard sensitive user data.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6215177"/>
            <a:ext cx="315193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Hiroshi Saito, The University of Tokyo 2021 CC BY-NC-SA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10972800" y="6195974"/>
            <a:ext cx="8595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709574"/>
            <a:ext cx="7835494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Enabling Background: ICT Progress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Rapid Progress of ICT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rising prominence of Big Data and modern Data Engineering is unequivocally driven by the massive advancements in Information and Communications Technology (ICT).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Explosive Data Ingestion Capabilities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High-capacity telecommunication infrastructure has drastically boosted data collection pipelines. Simultaneously, user behaviors (e.g. SNS) have moved raw data production completely online.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Focus on Network Proliferation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 understand this evolution, we must analyze the rapid penetration of high-speed broadband and high-bandwidth wireless cellular networks globally.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67805" y="1714500"/>
            <a:ext cx="4781398" cy="420989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67144" y="2585923"/>
            <a:ext cx="4381805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19849" y="3015691"/>
            <a:ext cx="407639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19849" y="2738628"/>
            <a:ext cx="4077310" cy="2295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Data Collection Lifecycle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019849" y="3666744"/>
            <a:ext cx="13624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 Telemetry Generation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378647" y="3757270"/>
            <a:ext cx="12435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➔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498434" y="3666744"/>
            <a:ext cx="120975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 High-Speed Transit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9701784" y="3757270"/>
            <a:ext cx="12435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➔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821570" y="3666744"/>
            <a:ext cx="12765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 Central Aggregation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019849" y="4576572"/>
            <a:ext cx="40773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Continuous ingestion powered by wireless &amp; wired fiber networks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6932981" y="4871923"/>
            <a:ext cx="425561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Figure: Structural flow of modern network data ingestion.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6215177"/>
            <a:ext cx="315193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Hiroshi Saito, The University of Tokyo 2021 CC BY-NC-SA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0" y="6195974"/>
            <a:ext cx="8595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709574"/>
            <a:ext cx="853043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Evolution of Broadband Contracts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Wired &amp; Wireless Proliferation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structural metrics show a rapid transition toward high-speed, high-performance bandwidth lines on both fixed and mobile networks.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762402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Fixed Broadband Growth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093415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Fixed-line infrastructure migrated rapidly from copper DSL models to ultra-fast fiber FTTH (Fiber-to-the-Home) networks, establishing Gbps-scale household access.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053535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Explosive Mobile Ingestion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384548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adoption of broadband mobile contracts (such as LTE and BWA) surpassed fixed networks by orders of magnitude, cementing continuous, high-volume mobile telemetry.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67805" y="1714500"/>
            <a:ext cx="4781398" cy="420989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87007" y="2872130"/>
            <a:ext cx="4743907" cy="1533449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67144" y="3158338"/>
            <a:ext cx="438180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67144" y="2995574"/>
            <a:ext cx="4381805" cy="1344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Infrastructure Glossary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67144" y="3443630"/>
            <a:ext cx="4381805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180015" y="3281782"/>
            <a:ext cx="1077163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Fiber-to-the-Home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67144" y="3653028"/>
            <a:ext cx="4381805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03282" y="3491179"/>
            <a:ext cx="1448410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Digital Subscriber Line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867144" y="3862426"/>
            <a:ext cx="4381805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14002" y="3700577"/>
            <a:ext cx="1638605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Cable Television Broadband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867144" y="4071823"/>
            <a:ext cx="4381805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77095" y="3909974"/>
            <a:ext cx="1581912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Broadband Wireless Access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9740189" y="4119372"/>
            <a:ext cx="1515161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Term Evolution (4G)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6459322" y="4405579"/>
            <a:ext cx="520110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Source: [Ministry of Internal Affairs and Communications (MIC) White Paper (2020)](https://www.soumu.go.jp/johotsusintokei/whitepaper/ja/r02/html/nd252210.html)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867144" y="3281782"/>
            <a:ext cx="257861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FTTH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6867144" y="3491179"/>
            <a:ext cx="191110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DSL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6867144" y="3700577"/>
            <a:ext cx="257861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CATV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6867144" y="3909974"/>
            <a:ext cx="191110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BWA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6867144" y="4119372"/>
            <a:ext cx="191110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LTE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1143000" y="6215177"/>
            <a:ext cx="315193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Hiroshi Saito, The University of Tokyo 2021 CC BY-NC-SA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10972800" y="6195974"/>
            <a:ext cx="8595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709574"/>
            <a:ext cx="7603236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Mobile Network Traffic Explosion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Socio-Technical Traffic Growth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14423"/>
            <a:ext cx="45720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Paralleling the broadband contract proliferation is the exponential surge in actual mobile network traffic transiting through regional telecommunication cellular towers.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924251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High-Frequency Mobile Adoption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224174"/>
            <a:ext cx="45720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rising integration of high-definition streaming, cloud telemetry, app distribution, and continuous GPS location tracking has generated astronomical traffic growth.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134002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Data Engineering Mandate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433926"/>
            <a:ext cx="45720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Handling these soaring multi-terabit network loads made the development of highly scalable distributed computing frameworks and database engines an absolute necessity.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96305" y="1714500"/>
            <a:ext cx="5162702" cy="4019702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pic>
        <p:nvPicPr>
          <p:cNvPr id="15" name="Image 0" descr="gen-dedup-f31e6183a46a3c18b75afb5003f8b1a6.jpg">    </p:cNvPr>
          <p:cNvPicPr>
            <a:picLocks noChangeAspect="1"/>
          </p:cNvPicPr>
          <p:nvPr/>
        </p:nvPicPr>
        <p:blipFill>
          <a:blip r:embed="rId1"/>
          <a:srcRect l="0" r="0" t="-81" b="-81"/>
          <a:stretch/>
        </p:blipFill>
        <p:spPr>
          <a:xfrm>
            <a:off x="6200546" y="2145182"/>
            <a:ext cx="4953305" cy="2790749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200546" y="4978908"/>
            <a:ext cx="49533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Figure: Rapid exponential growth curve of mobile communication traffic. [MIC Whitepaper](https://www.soumu.go.jp/johotsusintokei/field/data/gt010602.pdf)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" y="6215177"/>
            <a:ext cx="315193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Hiroshi Saito, The University of Tokyo 2021 CC BY-NC-SA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709574"/>
            <a:ext cx="7835494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Storage Hardware Expansion Trends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Solving the Ingestion Bottleneck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14423"/>
            <a:ext cx="45720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first primary challenge of big data leverage—retaining massive volumes of information—was systematically resolved by hardware innovations in storage density.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924251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Magnetic &amp; Solid State Evolution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224174"/>
            <a:ext cx="45720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Over recent decades, HDD (Hard Disk Drive) density and DRAM (Dynamic Random Access Memory) chip capacity have followed an aggressive exponential growth curve.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134002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Foundations of Distributed Databases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433926"/>
            <a:ext cx="45720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rapid, hardware-driven drop in cost-per-gigabyte laid the indispensable foundation for building modern, distributed database architectures.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96305" y="1714500"/>
            <a:ext cx="5162702" cy="4019702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pic>
        <p:nvPicPr>
          <p:cNvPr id="15" name="Image 0" descr="gen-dedup-468b03f6f35a054a392e9ef4cf8887a6.jpg">    </p:cNvPr>
          <p:cNvPicPr>
            <a:picLocks noChangeAspect="1"/>
          </p:cNvPicPr>
          <p:nvPr/>
        </p:nvPicPr>
        <p:blipFill>
          <a:blip r:embed="rId1"/>
          <a:srcRect l="0" r="0" t="-81" b="-81"/>
          <a:stretch/>
        </p:blipFill>
        <p:spPr>
          <a:xfrm>
            <a:off x="6200546" y="2145182"/>
            <a:ext cx="4953305" cy="2790749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200546" y="4978908"/>
            <a:ext cx="49533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Figure: Historical capacity expansion trends of HDD and DRAM hardware. [NHK Science &amp; Technology Research Labs](https://www.nhk.or.jp/strl/publica/rd/181/2.html)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" y="6215177"/>
            <a:ext cx="315193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Hiroshi Saito, The University of Tokyo 2021 CC BY-NC-SA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709574"/>
            <a:ext cx="8439912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Big Data Case Studies: POS Analytics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Physical Point-of-Sale Telemetry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Recording transactions directly inside physical retail outlets (POS) captures rich behavioral metadata, acting as a crucial component of modern marketing analytics.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Market Basket &amp; Supply Synergy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Analyzing co-occurrence probabilities of purchase items enables optimal shelf layouts. Modeling temporal variations allows adaptive supply chain planning based on weather or localized events.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Direct Campaign Measurement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Analyzing exact purchase reaction logs after marketing campaigns allows food &amp; beverage enterprises to drastically trim wasteful advertising costs while expanding gross margins.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67805" y="1714500"/>
            <a:ext cx="4781398" cy="420989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67144" y="2990088"/>
            <a:ext cx="4381805" cy="1162202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67398" y="3467405"/>
            <a:ext cx="3981298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67398" y="3190342"/>
            <a:ext cx="3982212" cy="2295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Market Basket Analysis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067398" y="3570732"/>
            <a:ext cx="39822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Mining retail purchase transactions to find association rules (e.g., "People buying Item X are 82% likely to buy Item Y").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867144" y="4286707"/>
            <a:ext cx="43818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Case Study: One-to-One Marketing Campaign Efficiency. [Liskul Retail Analytics](https://liskul.com/one-to-onemarketing-13202)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6215177"/>
            <a:ext cx="315193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Hiroshi Saito, The University of Tokyo 2021 CC BY-NC-SA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709574"/>
            <a:ext cx="8299094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Big Data Case Studies: EC Marketing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Granular Behavioral Logs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Unlike physical stores, digital actions on e-commerce (EC) platforms generate continuous, granular clickstream logs and behavioral records per individual user.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Cookie-Based Identity Tracking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Utilizing client-side cookie identifiers and past purchase histories allows operators to run personalized, real-time campaign optimizations rather than mass marketing.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One-to-One Marketing Paradigm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systematic strategy focuses on targeting users individually with tailored recommendations or related-product promotions, which boosts conversion rates.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67805" y="1714500"/>
            <a:ext cx="4781398" cy="420989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67144" y="2896819"/>
            <a:ext cx="4381805" cy="1343254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67398" y="3374136"/>
            <a:ext cx="3981298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67398" y="3097073"/>
            <a:ext cx="3982212" cy="2295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One-to-One Personalization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067398" y="3477463"/>
            <a:ext cx="398221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Tracking cookies and user clickstream dynamics to dynamically serve relevant content and product recommendations in real time.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867144" y="4380890"/>
            <a:ext cx="43818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Concepts: E-commerce behavioral telemetry and personalized targeting.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6215177"/>
            <a:ext cx="315193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Hiroshi Saito, The University of Tokyo 2021 CC BY-NC-SA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709574"/>
            <a:ext cx="7371893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Two Paradigms of Recommendation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Value of Recommendation Systems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Recommendation systems represent one of the most commercially successful implementations of big data, serving as a primary driver of digital platform engagement.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Collaborative Filtering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Models user preferences based entirely on aggregate purchase histories of other similar users. It requires no demographic metadata but suffers from cold-start problems with new items.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Content/Attribute-Based Filtering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Utilizes metadata profiles of users and product attributes directly. While highly effective at recommending brand-new releases, it cannot function if attribute profiles are missing.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67805" y="1714500"/>
            <a:ext cx="4781398" cy="420989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15354" y="2558491"/>
            <a:ext cx="4686300" cy="94274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67144" y="2711196"/>
            <a:ext cx="4381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Collaborative Filtering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867144" y="2996489"/>
            <a:ext cx="4381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Aggregates purchase history of similar users to forecast item ratings. Eliminates metadata dependency.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15354" y="3638398"/>
            <a:ext cx="4686300" cy="94274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67144" y="3791102"/>
            <a:ext cx="4381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Attribute-Based Filtering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67144" y="4076395"/>
            <a:ext cx="4381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Maps explicit customer properties (age, location) against product descriptors. Ideal for cold-start items.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867144" y="4718304"/>
            <a:ext cx="43818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Figure: Comparing collaborative filtering vs. attribute-based approaches.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6215177"/>
            <a:ext cx="315193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Hiroshi Saito, The University of Tokyo 2021 CC BY-NC-SA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709574"/>
            <a:ext cx="990661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Amazon: Item-to-Item Collaborative Filtering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Personalization as the Core Strategy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Amazon.com leverages its recommendation engine not merely as an add-on, but as a central framework to completely personalize the user's web storefront experience.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Item-to-Item Collaborative Filtering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First implemented in 1998, this classic algorithm pairs purchased items with closely-related inventory. This approach scales seamlessly to millions of concurrent customers.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Hybrid Offline/Online Computation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Computes complex product similarity tables entirely offline. The online component performs simple key-value lookups based on a user's active cart, ensuring sub-second response times.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67805" y="1714500"/>
            <a:ext cx="4781398" cy="420989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67144" y="2714854"/>
            <a:ext cx="4381805" cy="1666951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19849" y="3114446"/>
            <a:ext cx="407639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19849" y="2866644"/>
            <a:ext cx="4077310" cy="2011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Hybrid Architecture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312250" y="3219602"/>
            <a:ext cx="2131466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➔ Heavy Item Similarity Matrix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9637776" y="3448202"/>
            <a:ext cx="174559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➔ Active Cart User Query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9374429" y="3676802"/>
            <a:ext cx="205191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➔ Rapid Table Lookup &amp; Rank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019849" y="3943807"/>
            <a:ext cx="407639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19849" y="4000500"/>
            <a:ext cx="1292047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Total CTR Drive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9960559" y="4000500"/>
            <a:ext cx="1553566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~30% of Site Views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867144" y="4381805"/>
            <a:ext cx="438180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Source: [Linden, Smith, &amp; York (2003)](https://ieeexplore.ieee.org/document/1167344) &amp; [Smith &amp; Linden (2017)](https://ieeexplore.ieee.org/document/7924241)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019849" y="3219602"/>
            <a:ext cx="60259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Offline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7019849" y="3448202"/>
            <a:ext cx="52212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Online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7019849" y="3676802"/>
            <a:ext cx="782726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Execution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6215177"/>
            <a:ext cx="315193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Hiroshi Saito, The University of Tokyo 2021 CC BY-NC-SA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709574"/>
            <a:ext cx="945672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YouTube: Co-viewing Recommendation Model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Defining Video Relatedness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YouTube maps video associations based on co-viewing patterns—identifying which subsequent videos are watched after viewing an initial Video A.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Precomputed Association Sets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algorithm pre-calculates the Top-N related videos for each entry, forming a precomputed related video set R(A) to ensure instantaneous serving latency.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Recursive Recommendation Graph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live system cross-references active user histories with these sets, expanding recommendations to include secondary degrees of association, such as related videos of R(A).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67805" y="1714500"/>
            <a:ext cx="4781398" cy="420989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67144" y="2938882"/>
            <a:ext cx="4381805" cy="139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19849" y="3338474"/>
            <a:ext cx="407639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19849" y="3090672"/>
            <a:ext cx="4077310" cy="2011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Recursive Mapping Flow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019849" y="3443630"/>
            <a:ext cx="28346" cy="171907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43293" y="3443630"/>
            <a:ext cx="3953866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Active Seed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➔ User watches Video 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019849" y="3690518"/>
            <a:ext cx="28346" cy="171907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43293" y="3690518"/>
            <a:ext cx="3953866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Primary Set R(A)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➔ Precomputed co-viewed associations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019849" y="3938321"/>
            <a:ext cx="28346" cy="171907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43293" y="3938321"/>
            <a:ext cx="3953866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Secondary Expansion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➔ Related nodes within R(R(A))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867144" y="4338828"/>
            <a:ext cx="43818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Source: [Davidson et al., ACM Recommender Systems (2010)](https://dl.acm.org/doi/10.1145/1864708.1864770)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6215177"/>
            <a:ext cx="315193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Hiroshi Saito, The University of Tokyo 2021 CC BY-NC-SA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709574"/>
            <a:ext cx="10944454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Netflix: Multi-Algorithm Recommendation Matrices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 CTR Conversion Drive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Approximately 80% of total viewing hours on Netflix are driven directly by personalized recommendations, underscoring the critical business value of algorithmic personalization.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Unified Grid Interface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Rather than using a single algorithm, Netflix serves a matrixed interface where each horizontal row represents an entirely different specialized recommender model.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Multi-Dimensional Scoring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Separate algorithms run concurrently in real time, sorting specific categories, trending releases, and genre preferences adjusted to user demographic profiles.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67805" y="1714500"/>
            <a:ext cx="4781398" cy="420989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67144" y="2572207"/>
            <a:ext cx="4381805" cy="1952244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10705" y="2714854"/>
            <a:ext cx="40965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509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Netflix Recommendation Engine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010705" y="2991002"/>
            <a:ext cx="409651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Row 1: Personalized Popular (Collaborative Filtering)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010705" y="3172054"/>
            <a:ext cx="1333195" cy="400507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95106" y="3172054"/>
            <a:ext cx="1333195" cy="400507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78594" y="3172054"/>
            <a:ext cx="1333195" cy="400507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10705" y="3685946"/>
            <a:ext cx="409651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Row 2: Because you watched... (Content-Based)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010705" y="3866998"/>
            <a:ext cx="1333195" cy="400507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95106" y="3866998"/>
            <a:ext cx="1333195" cy="400507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78594" y="3866998"/>
            <a:ext cx="1333195" cy="400507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67144" y="4524451"/>
            <a:ext cx="438180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Figure: Mock of row-based algorithm mapping in the Netflix interface. [Gomez-Uribe &amp; Hunt (2016)](https://dl.acm.org/doi/10.1145/2843948)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6215177"/>
            <a:ext cx="315193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Hiroshi Saito, The University of Tokyo 2021 CC BY-NC-SA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709574"/>
            <a:ext cx="8761781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Big Data Case Studies: Human Mobility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Mapping Spatio-Temporal Flows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Measuring, predicting, and optimizing human movement dynamics in physical space represents a highly impactful area of big data application.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Optimizing Public Spaces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Commercial and public organizations capture visitor movement patterns within museums or retail layouts to dynamically restructure pathing, traffic signs, and exhibits.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Emergency Disaster Navigation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Connecting real-time crowding telemetry with digital signage systems allows authorities to dynamically route evacuation paths during catastrophic natural events.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67805" y="1714500"/>
            <a:ext cx="4781398" cy="420989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67144" y="2715768"/>
            <a:ext cx="4381805" cy="1343254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67398" y="3193085"/>
            <a:ext cx="3981298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67398" y="2916022"/>
            <a:ext cx="3982212" cy="2295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Dynamic Crowd Routing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067398" y="3296412"/>
            <a:ext cx="398221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Synergizing continuous GPS/Wi-Fi signal mapping with municipal display panels to coordinate safe public evacuation pathing during emergencies.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867144" y="4199839"/>
            <a:ext cx="4381805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Source: [AIST Artificial Intelligence Research Center](https://www.airc.aist.go.jp/achievements/ja/p-028.html) &amp; [Nikkei XTech](https://xtech.nikkei.com/it/atcl/column/14/122600137/122600001/)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6215177"/>
            <a:ext cx="315193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Hiroshi Saito, The University of Tokyo 2021 CC BY-NC-SA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709574"/>
            <a:ext cx="9306763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Big Data Case Studies: Machine Telemetry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Industrial IoT Telemetry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Just as human behavioral logs are parsed as big data, high-frequency physical telemetry and machine operational logs represent an identical paradigm shift.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Global Fleet Ingestion: Komatsu KOMTRAX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 an industry pioneer, Komatsu equips standard machinery fleets with KOMTRAX sensors, centralizing real-time positioning and mechanical strain logs over wireless networks.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Predictive Failure Analysis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Turbine power plant operators (e.g., IHI) aggregate massive operational telemetry, modeling baseline dynamics to predict critical anomalies and prevent physical failure.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67805" y="1714500"/>
            <a:ext cx="4781398" cy="420989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67144" y="2806294"/>
            <a:ext cx="4381805" cy="1343254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67398" y="3283610"/>
            <a:ext cx="3981298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67398" y="3006547"/>
            <a:ext cx="3982212" cy="2295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Predictive Lifecycle Management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067398" y="3386938"/>
            <a:ext cx="398221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Centralizing global industrial assets, using continuous multivariate sensor streams to build prescriptive maintenance algorithms.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660490" y="4290365"/>
            <a:ext cx="480060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References: [Komatsu KOMTRAX](https://sanki.komatsu/komtrax/) &amp; [IHI Lifecycle Operation Support](https://www.ihi.co.jp/powersystems/lifecycle/operation_support/index.html)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6215177"/>
            <a:ext cx="315193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Hiroshi Saito, The University of Tokyo 2021 CC BY-NC-SA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709574"/>
            <a:ext cx="922081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Big Data Case Studies: Syslog Diagnostics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System-Level Event Logs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High-volume information system logs represent critical, unstructured big data, parsed extensively to model complex infrastructure health.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762402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Failure of Simple Rule-Based Alerts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093415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Standard networks rely on hardcoded thresholds for hardware failures. However, they struggle to capture latent, pre-failure anomalies, traditionally relying on veteran experience.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053535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Mapping Co-occurrence (Syslog Analysis)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384548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single anomaly triggers cascading logs across multiple network elements. Modeling these co-occurrence events enables highly precise diagnostic mapping.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67805" y="1714500"/>
            <a:ext cx="4781398" cy="420989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67144" y="2990088"/>
            <a:ext cx="4381805" cy="1162202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67398" y="3467405"/>
            <a:ext cx="3981298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67398" y="3190342"/>
            <a:ext cx="3982212" cy="2295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Syslog Co-occurrence Matrix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067398" y="3570732"/>
            <a:ext cx="39822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Parsing massive system-level console message streams to detect temporal patterns preceding complex network faults.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867144" y="4286707"/>
            <a:ext cx="43818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Source: [T. Kimura, Syslog Analysis for Large-scale Network Failures (2015)](https://search.ieice.org/bin/summary.php?id=j98-b_9_823)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6215177"/>
            <a:ext cx="315193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Hiroshi Saito, The University of Tokyo 2021 CC BY-NC-SA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709574"/>
            <a:ext cx="8392363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Socio-Technical Data Classifications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143000" y="1714500"/>
            <a:ext cx="4858207" cy="17145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80744" y="2295144"/>
            <a:ext cx="237744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80744" y="1952244"/>
            <a:ext cx="283464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80744" y="2381098"/>
            <a:ext cx="43818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Image Telemetry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380744" y="2648102"/>
            <a:ext cx="4381805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Advanced image processing algorithms for automated piloting systems, vehicle identification, smart food sorting, and deep-learning cancer detection.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91402" y="1714500"/>
            <a:ext cx="4858207" cy="17145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29146" y="2295144"/>
            <a:ext cx="276149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9146" y="1952244"/>
            <a:ext cx="30449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29146" y="2381098"/>
            <a:ext cx="43818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Voice &amp; Audio Streams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29146" y="2648102"/>
            <a:ext cx="4381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Continuous voice recognition (Apple Siri, Alexa) paired with advanced text-to-speech synthesis models used in automated news anchors.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143000" y="3619195"/>
            <a:ext cx="4858207" cy="17145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80744" y="4200754"/>
            <a:ext cx="26700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380744" y="3857854"/>
            <a:ext cx="303581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380744" y="4286707"/>
            <a:ext cx="43818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Document &amp; Natural Language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380744" y="4552798"/>
            <a:ext cx="4381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Leveraging neural machine translation models (Google GNMT) and deep generative neural networks to automate comprehensive article writing.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91402" y="3619195"/>
            <a:ext cx="4858207" cy="17145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29146" y="4200754"/>
            <a:ext cx="26700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29146" y="3857854"/>
            <a:ext cx="303581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429146" y="4286707"/>
            <a:ext cx="43818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Sensor &amp; Temporal Logs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29146" y="4552798"/>
            <a:ext cx="4381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High-frequency industrial IoT, syslog co-occurrence networks, GPS mobility tracks, and point-of-sale customer purchase history logs.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6215177"/>
            <a:ext cx="315193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Hiroshi Saito, The University of Tokyo 2021 CC BY-NC-SA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709574"/>
            <a:ext cx="9240012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Industrial Innovations: Smart Agriculture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Spatio-Temporal Crop Monitoring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Analyzing farm conditions via multispectral satellite imagery and ground-level wireless sensor arrays enables highly efficient, localized crop management (e.g., viticulture).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Systematic Agricultural Collaboration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 scale productivity, national initiatives coordinate cross-industry databases, establishing unified data pipelines to sharing climate, soil, and yield metrics.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WAGRI Integration Initiative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establishment of the Agricultural Data Collaboration Platform (WAGRI) provides a highly unified API network that integrates public weather, geological, and agricultural telemetry.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67805" y="1714500"/>
            <a:ext cx="4781398" cy="420989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67144" y="2842870"/>
            <a:ext cx="4381805" cy="1410005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67398" y="3348533"/>
            <a:ext cx="3981298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67398" y="3043123"/>
            <a:ext cx="3982212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WAGRI Platform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067398" y="3452774"/>
            <a:ext cx="398221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national-scale collaborative API ecosystem integrating meteorological data, satellite crop maps, soil properties, and agricultural machinery logs.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867144" y="4252874"/>
            <a:ext cx="438180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Source: [Smart Agriculture Japan](https://smartagri-jp.com/smartagri/20) &amp; [WAGRI Consortium Portal](https://wagri.net/ja-jp/)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6215177"/>
            <a:ext cx="315193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Hiroshi Saito, The University of Tokyo 2021 CC BY-NC-SA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709574"/>
            <a:ext cx="8849563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Industrial Innovations: Smart Fisheries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450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Predictive Harvest Modeling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4551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Building predictive harvest models based on historical catch records, meteorological conditions, and real-time ocean current sensors optimizes set-net fishery yields.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05633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Deep Sea Resource Forecasting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Pelagic fleets (e.g., skipjack and tuna fisheries) aggregate massive oceanographical datasets, using sea surface temperatures to model fish school movement and map maritime resources.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Smart Aquaculture &amp; Efficiency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28693"/>
            <a:ext cx="5143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Integrating water quality telemetry with automated computer vision feeders optimizes fish growth and operational workflows in modern aquaculture facilities.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67805" y="1714500"/>
            <a:ext cx="4781398" cy="420989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67144" y="2897734"/>
            <a:ext cx="4381805" cy="1304849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67398" y="3374136"/>
            <a:ext cx="3981298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67398" y="3097073"/>
            <a:ext cx="3982212" cy="2295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Oceanographical Modeling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067398" y="3478378"/>
            <a:ext cx="3982212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Combining sea temperatures, maritime weather logs, and sonar fish school coordinates to map global migratory pathways of pelagic fish species.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157570" y="4198925"/>
            <a:ext cx="5811012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Source: [MIC Smart Fishery Initiative (2017)](https://www.soumu.go.jp/main_sosiki/joho_tsusin/top/local_support/ict/jirei/2017_013.html) &amp; [Nissui Aquaculture Life-cycle](https://nissui.disclosure.site/ja/themes/144)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6215177"/>
            <a:ext cx="315193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Hiroshi Saito, The University of Tokyo 2021 CC BY-NC-SA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0"/>
            <a:ext cx="12201754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2610" y="0"/>
            <a:ext cx="9144" cy="6867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0"/>
            <a:ext cx="9144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709574"/>
            <a:ext cx="853043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Summary: Big Data &amp; Data Engineering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619402"/>
            <a:ext cx="51435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Socio-Technical Co-evolution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848002"/>
            <a:ext cx="514350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exponential growth of big data is deeply intertwined with high-speed telecommunications, drop in hardware cost-per-gigabyte, and the proliferation of IoT networks.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482596"/>
            <a:ext cx="51435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High-Value Knowledge Extraction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711196"/>
            <a:ext cx="514350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Practical business success across e-commerce (Amazon), streaming (Netflix, YouTube), and logistics hinges on shifting from mass-marketing to precise, one-to-one algorithmic models.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345790"/>
            <a:ext cx="51435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Broad Industrial Landscape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574390"/>
            <a:ext cx="514350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From high-frequency industrial IoT, Syslog anomaly mining, and GPS human mobility networks, to WAGRI agricultural APIs and predictive fisheries, data engineering actively optimizes our primary, secondary, and tertiary sectors.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667805" y="1714500"/>
            <a:ext cx="4781398" cy="420989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67144" y="2963570"/>
            <a:ext cx="4381805" cy="171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05802" y="3480206"/>
            <a:ext cx="390540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Engineering Paradigm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105802" y="3879799"/>
            <a:ext cx="390540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Transitioning from passive data storage to automated, real-time context-aware decision systems that actively optimize human societal capabilities.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6215177"/>
            <a:ext cx="315193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Hiroshi Saito, The University of Tokyo 2021 CC BY-NC-SA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10895990" y="6195974"/>
            <a:ext cx="1627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2026-06-18T11:49:30Z</dcterms:created>
  <dcterms:modified xsi:type="dcterms:W3CDTF">2026-06-18T11:49:30Z</dcterms:modified>
</cp:coreProperties>
</file>